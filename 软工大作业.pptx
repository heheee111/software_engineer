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567" r:id="rId4"/>
    <p:sldId id="579" r:id="rId5"/>
    <p:sldId id="587" r:id="rId6"/>
    <p:sldId id="606" r:id="rId7"/>
    <p:sldId id="617" r:id="rId9"/>
    <p:sldId id="623" r:id="rId10"/>
    <p:sldId id="622" r:id="rId11"/>
    <p:sldId id="59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9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如何获取具体分组规则</a:t>
            </a:r>
            <a:r>
              <a:rPr lang="en-US" altLang="zh-CN"/>
              <a:t>  </a:t>
            </a:r>
            <a:r>
              <a:rPr lang="zh-CN" altLang="en-US"/>
              <a:t>通过政策</a:t>
            </a:r>
            <a:r>
              <a:rPr lang="zh-CN" altLang="en-US"/>
              <a:t>文件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如何获取具体分组规则</a:t>
            </a:r>
            <a:r>
              <a:rPr lang="en-US" altLang="zh-CN"/>
              <a:t>  </a:t>
            </a:r>
            <a:r>
              <a:rPr lang="zh-CN" altLang="en-US"/>
              <a:t>通过政策</a:t>
            </a:r>
            <a:r>
              <a:rPr lang="zh-CN" altLang="en-US"/>
              <a:t>文件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71499" y="293915"/>
            <a:ext cx="8327571" cy="587828"/>
          </a:xfrm>
          <a:prstGeom prst="rect">
            <a:avLst/>
          </a:prstGeom>
          <a:solidFill>
            <a:srgbClr val="005D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1" hasCustomPrompt="1"/>
          </p:nvPr>
        </p:nvSpPr>
        <p:spPr>
          <a:xfrm>
            <a:off x="4079879" y="4995863"/>
            <a:ext cx="4983163" cy="64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单击此处编辑子标题</a:t>
            </a:r>
            <a:endParaRPr kumimoji="1" lang="zh-CN" altLang="en-US" dirty="0"/>
          </a:p>
        </p:txBody>
      </p:sp>
      <p:sp>
        <p:nvSpPr>
          <p:cNvPr id="41" name="文本占位符 39"/>
          <p:cNvSpPr>
            <a:spLocks noGrp="1"/>
          </p:cNvSpPr>
          <p:nvPr>
            <p:ph type="body" sz="quarter" idx="12" hasCustomPrompt="1"/>
          </p:nvPr>
        </p:nvSpPr>
        <p:spPr>
          <a:xfrm>
            <a:off x="4079879" y="3819871"/>
            <a:ext cx="4983163" cy="64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单击此处编辑子标题</a:t>
            </a:r>
            <a:endParaRPr kumimoji="1" lang="zh-CN" altLang="en-US" dirty="0"/>
          </a:p>
        </p:txBody>
      </p:sp>
      <p:sp>
        <p:nvSpPr>
          <p:cNvPr id="42" name="文本占位符 39"/>
          <p:cNvSpPr>
            <a:spLocks noGrp="1"/>
          </p:cNvSpPr>
          <p:nvPr>
            <p:ph type="body" sz="quarter" idx="13" hasCustomPrompt="1"/>
          </p:nvPr>
        </p:nvSpPr>
        <p:spPr>
          <a:xfrm>
            <a:off x="4079879" y="2647978"/>
            <a:ext cx="4983163" cy="64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单击此处编辑子标题</a:t>
            </a:r>
            <a:endParaRPr kumimoji="1" lang="zh-CN" altLang="en-US" dirty="0"/>
          </a:p>
        </p:txBody>
      </p:sp>
      <p:sp>
        <p:nvSpPr>
          <p:cNvPr id="43" name="文本占位符 39"/>
          <p:cNvSpPr>
            <a:spLocks noGrp="1"/>
          </p:cNvSpPr>
          <p:nvPr>
            <p:ph type="body" sz="quarter" idx="14" hasCustomPrompt="1"/>
          </p:nvPr>
        </p:nvSpPr>
        <p:spPr>
          <a:xfrm>
            <a:off x="4079878" y="1563540"/>
            <a:ext cx="4983163" cy="6463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zh-CN" altLang="en-US" dirty="0"/>
              <a:t>单击此处编辑子标题</a:t>
            </a:r>
            <a:endParaRPr kumimoji="1" lang="zh-CN" altLang="en-US" dirty="0"/>
          </a:p>
        </p:txBody>
      </p:sp>
      <p:sp>
        <p:nvSpPr>
          <p:cNvPr id="44" name="文本框 43"/>
          <p:cNvSpPr txBox="1"/>
          <p:nvPr userDrawn="1"/>
        </p:nvSpPr>
        <p:spPr>
          <a:xfrm>
            <a:off x="2728907" y="1566384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2728907" y="2693127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 userDrawn="1"/>
        </p:nvSpPr>
        <p:spPr>
          <a:xfrm>
            <a:off x="2722330" y="3819871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 userDrawn="1"/>
        </p:nvSpPr>
        <p:spPr>
          <a:xfrm>
            <a:off x="2728907" y="4968450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511934" y="1750349"/>
            <a:ext cx="11142510" cy="2854901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/>
          </p:nvPr>
        </p:nvSpPr>
        <p:spPr>
          <a:xfrm>
            <a:off x="511175" y="5454266"/>
            <a:ext cx="11143269" cy="501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11175" y="5076180"/>
            <a:ext cx="2846642" cy="37808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要点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</p:nvPr>
        </p:nvSpPr>
        <p:spPr>
          <a:xfrm>
            <a:off x="511175" y="1114425"/>
            <a:ext cx="6354763" cy="498475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 双栏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511174" y="1114425"/>
            <a:ext cx="11060141" cy="9144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647700" y="2593975"/>
            <a:ext cx="4556125" cy="33083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>
                <a:solidFill>
                  <a:srgbClr val="00375E"/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6955269" y="2593975"/>
            <a:ext cx="4556125" cy="33083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>
                <a:solidFill>
                  <a:srgbClr val="00375E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双栏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4" name="直接连接符 80"/>
          <p:cNvCxnSpPr/>
          <p:nvPr userDrawn="1"/>
        </p:nvCxnSpPr>
        <p:spPr>
          <a:xfrm>
            <a:off x="6096000" y="1484685"/>
            <a:ext cx="0" cy="3678238"/>
          </a:xfrm>
          <a:prstGeom prst="line">
            <a:avLst/>
          </a:prstGeom>
          <a:noFill/>
          <a:ln w="25400" cap="flat" cmpd="sng" algn="ctr">
            <a:solidFill>
              <a:srgbClr val="314371"/>
            </a:solidFill>
            <a:prstDash val="dash"/>
            <a:miter lim="800000"/>
          </a:ln>
          <a:effectLst/>
        </p:spPr>
      </p:cxnSp>
      <p:sp>
        <p:nvSpPr>
          <p:cNvPr id="42" name="图片占位符 41"/>
          <p:cNvSpPr>
            <a:spLocks noGrp="1"/>
          </p:cNvSpPr>
          <p:nvPr>
            <p:ph type="pic" sz="quarter" idx="11"/>
          </p:nvPr>
        </p:nvSpPr>
        <p:spPr>
          <a:xfrm>
            <a:off x="7065649" y="1576125"/>
            <a:ext cx="4338638" cy="3678238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2" hasCustomPrompt="1"/>
          </p:nvPr>
        </p:nvSpPr>
        <p:spPr>
          <a:xfrm>
            <a:off x="1363749" y="2327564"/>
            <a:ext cx="4006850" cy="461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单击此处编辑文本样式</a:t>
            </a:r>
            <a:endParaRPr kumimoji="1" lang="zh-CN" altLang="en-US" dirty="0"/>
          </a:p>
        </p:txBody>
      </p:sp>
      <p:sp>
        <p:nvSpPr>
          <p:cNvPr id="51" name="文本占位符 48"/>
          <p:cNvSpPr>
            <a:spLocks noGrp="1"/>
          </p:cNvSpPr>
          <p:nvPr>
            <p:ph type="body" sz="quarter" idx="13" hasCustomPrompt="1"/>
          </p:nvPr>
        </p:nvSpPr>
        <p:spPr>
          <a:xfrm>
            <a:off x="1363749" y="3073180"/>
            <a:ext cx="4006850" cy="461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单击此处编辑文本样式</a:t>
            </a:r>
            <a:endParaRPr kumimoji="1" lang="zh-CN" altLang="en-US" dirty="0"/>
          </a:p>
        </p:txBody>
      </p:sp>
      <p:sp>
        <p:nvSpPr>
          <p:cNvPr id="53" name="文本占位符 48"/>
          <p:cNvSpPr>
            <a:spLocks noGrp="1"/>
          </p:cNvSpPr>
          <p:nvPr>
            <p:ph type="body" sz="quarter" idx="14" hasCustomPrompt="1"/>
          </p:nvPr>
        </p:nvSpPr>
        <p:spPr>
          <a:xfrm>
            <a:off x="1363749" y="3837939"/>
            <a:ext cx="4006850" cy="461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单击此处编辑文本样式</a:t>
            </a:r>
            <a:endParaRPr kumimoji="1" lang="zh-CN" altLang="en-US" dirty="0"/>
          </a:p>
        </p:txBody>
      </p:sp>
      <p:sp>
        <p:nvSpPr>
          <p:cNvPr id="55" name="文本占位符 48"/>
          <p:cNvSpPr>
            <a:spLocks noGrp="1"/>
          </p:cNvSpPr>
          <p:nvPr>
            <p:ph type="body" sz="quarter" idx="15" hasCustomPrompt="1"/>
          </p:nvPr>
        </p:nvSpPr>
        <p:spPr>
          <a:xfrm>
            <a:off x="1363749" y="4602698"/>
            <a:ext cx="4006850" cy="461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单击此处编辑文本样式</a:t>
            </a:r>
            <a:endParaRPr kumimoji="1" lang="zh-CN" altLang="en-US" dirty="0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87713" y="1636053"/>
            <a:ext cx="2919413" cy="466725"/>
          </a:xfrm>
          <a:prstGeom prst="rect">
            <a:avLst/>
          </a:prstGeom>
          <a:solidFill>
            <a:srgbClr val="005D97"/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小标题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787400" y="2357438"/>
            <a:ext cx="424816" cy="40795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endParaRPr kumimoji="1" lang="zh-CN" altLang="en-US" sz="2800" b="1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8" hasCustomPrompt="1"/>
          </p:nvPr>
        </p:nvSpPr>
        <p:spPr>
          <a:xfrm>
            <a:off x="753428" y="3085767"/>
            <a:ext cx="458788" cy="431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endParaRPr kumimoji="1" lang="zh-CN" altLang="en-US" sz="2800" b="1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9" hasCustomPrompt="1"/>
          </p:nvPr>
        </p:nvSpPr>
        <p:spPr>
          <a:xfrm>
            <a:off x="748162" y="3852871"/>
            <a:ext cx="458788" cy="431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endParaRPr kumimoji="1" lang="zh-CN" altLang="en-US" sz="2800" b="1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占位符 5"/>
          <p:cNvSpPr>
            <a:spLocks noGrp="1"/>
          </p:cNvSpPr>
          <p:nvPr>
            <p:ph type="body" sz="quarter" idx="20" hasCustomPrompt="1"/>
          </p:nvPr>
        </p:nvSpPr>
        <p:spPr>
          <a:xfrm>
            <a:off x="748162" y="4632563"/>
            <a:ext cx="458788" cy="431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</a:t>
            </a:r>
            <a:endParaRPr kumimoji="1" lang="zh-CN" altLang="en-US" sz="2800" b="1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三栏竖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511175" y="1397000"/>
            <a:ext cx="3163050" cy="714433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ü"/>
              <a:defRPr sz="2400" b="1">
                <a:solidFill>
                  <a:srgbClr val="00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4464443" y="1399771"/>
            <a:ext cx="3163050" cy="714433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ü"/>
              <a:defRPr sz="2400" b="1">
                <a:solidFill>
                  <a:srgbClr val="00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8517775" y="1397000"/>
            <a:ext cx="3163050" cy="714433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ü"/>
              <a:defRPr sz="2400" b="1">
                <a:solidFill>
                  <a:srgbClr val="00375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11175" y="2344738"/>
            <a:ext cx="3162300" cy="3624262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5"/>
          </p:nvPr>
        </p:nvSpPr>
        <p:spPr>
          <a:xfrm>
            <a:off x="4464443" y="2344738"/>
            <a:ext cx="3162300" cy="3624262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6"/>
          </p:nvPr>
        </p:nvSpPr>
        <p:spPr>
          <a:xfrm>
            <a:off x="8518525" y="2344738"/>
            <a:ext cx="3162300" cy="3624262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三栏横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占位符 5"/>
          <p:cNvSpPr>
            <a:spLocks noGrp="1"/>
          </p:cNvSpPr>
          <p:nvPr>
            <p:ph type="dgm" sz="quarter" idx="11"/>
          </p:nvPr>
        </p:nvSpPr>
        <p:spPr>
          <a:xfrm>
            <a:off x="511175" y="1279525"/>
            <a:ext cx="11272838" cy="4584700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表格占位符 4"/>
          <p:cNvSpPr>
            <a:spLocks noGrp="1"/>
          </p:cNvSpPr>
          <p:nvPr>
            <p:ph type="tbl" sz="quarter" idx="11"/>
          </p:nvPr>
        </p:nvSpPr>
        <p:spPr>
          <a:xfrm>
            <a:off x="442595" y="1551940"/>
            <a:ext cx="11022013" cy="4060190"/>
          </a:xfrm>
          <a:prstGeom prst="rect">
            <a:avLst/>
          </a:prstGeo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.xml"/><Relationship Id="rId18" Type="http://schemas.openxmlformats.org/officeDocument/2006/relationships/tags" Target="../tags/tag7.xml"/><Relationship Id="rId17" Type="http://schemas.openxmlformats.org/officeDocument/2006/relationships/tags" Target="../tags/tag6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image" Target="../media/image3.png"/><Relationship Id="rId13" Type="http://schemas.openxmlformats.org/officeDocument/2006/relationships/tags" Target="../tags/tag3.xml"/><Relationship Id="rId12" Type="http://schemas.openxmlformats.org/officeDocument/2006/relationships/image" Target="../media/image2.png"/><Relationship Id="rId11" Type="http://schemas.openxmlformats.org/officeDocument/2006/relationships/tags" Target="../tags/tag2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B7EE5-0A51-40D5-9D16-7282DB28CE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6A6CB-04F5-48CE-90E8-373C563E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1934" y="294372"/>
            <a:ext cx="10515600" cy="580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5FAA5-2BB2-CC43-B0C0-FB8E1C7B342C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9345713" y="195586"/>
            <a:ext cx="2899300" cy="761886"/>
            <a:chOff x="8482002" y="88145"/>
            <a:chExt cx="3882522" cy="1020260"/>
          </a:xfrm>
        </p:grpSpPr>
        <p:pic>
          <p:nvPicPr>
            <p:cNvPr id="9" name="图片 8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8521619" y="710476"/>
              <a:ext cx="530572" cy="397929"/>
            </a:xfrm>
            <a:prstGeom prst="rect">
              <a:avLst/>
            </a:prstGeom>
          </p:spPr>
        </p:pic>
        <p:pic>
          <p:nvPicPr>
            <p:cNvPr id="10" name="Picture 3" descr="校标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4" descr="校名 标准色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/>
            <p:cNvSpPr txBox="1"/>
            <p:nvPr>
              <p:custDataLst>
                <p:tags r:id="rId15"/>
              </p:custDataLst>
            </p:nvPr>
          </p:nvSpPr>
          <p:spPr>
            <a:xfrm>
              <a:off x="8954295" y="722049"/>
              <a:ext cx="341022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005D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自然语言处理与大数据挖掘实验室</a:t>
              </a:r>
              <a:endParaRPr lang="zh-CN" altLang="en-US" sz="1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" name="直接连接符 4"/>
          <p:cNvCxnSpPr>
            <a:endCxn id="15" idx="1"/>
          </p:cNvCxnSpPr>
          <p:nvPr userDrawn="1">
            <p:custDataLst>
              <p:tags r:id="rId16"/>
            </p:custDataLst>
          </p:nvPr>
        </p:nvCxnSpPr>
        <p:spPr>
          <a:xfrm>
            <a:off x="-12192" y="6438900"/>
            <a:ext cx="960729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>
            <p:custDataLst>
              <p:tags r:id="rId17"/>
            </p:custDataLst>
          </p:nvPr>
        </p:nvSpPr>
        <p:spPr>
          <a:xfrm>
            <a:off x="11165019" y="6334125"/>
            <a:ext cx="1043154" cy="222250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 userDrawn="1">
            <p:custDataLst>
              <p:tags r:id="rId18"/>
            </p:custDataLst>
          </p:nvPr>
        </p:nvSpPr>
        <p:spPr>
          <a:xfrm>
            <a:off x="9595104" y="6177290"/>
            <a:ext cx="1711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ln>
                  <a:solidFill>
                    <a:schemeClr val="bg1">
                      <a:lumMod val="65000"/>
                    </a:schemeClr>
                  </a:solidFill>
                </a:ln>
                <a:noFill/>
              </a:rPr>
              <a:t>ECUST</a:t>
            </a:r>
            <a:endParaRPr lang="zh-CN" altLang="en-US" sz="2800" b="1" spc="300" dirty="0">
              <a:ln>
                <a:solidFill>
                  <a:schemeClr val="bg1">
                    <a:lumMod val="65000"/>
                  </a:schemeClr>
                </a:solidFill>
              </a:ln>
              <a:noFill/>
            </a:endParaRPr>
          </a:p>
        </p:txBody>
      </p:sp>
      <p:sp>
        <p:nvSpPr>
          <p:cNvPr id="16" name="矩形 15"/>
          <p:cNvSpPr/>
          <p:nvPr userDrawn="1">
            <p:custDataLst>
              <p:tags r:id="rId19"/>
            </p:custDataLst>
          </p:nvPr>
        </p:nvSpPr>
        <p:spPr>
          <a:xfrm>
            <a:off x="0" y="292445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6.png"/><Relationship Id="rId7" Type="http://schemas.openxmlformats.org/officeDocument/2006/relationships/tags" Target="../tags/tag12.xml"/><Relationship Id="rId6" Type="http://schemas.openxmlformats.org/officeDocument/2006/relationships/image" Target="../media/image5.png"/><Relationship Id="rId5" Type="http://schemas.openxmlformats.org/officeDocument/2006/relationships/tags" Target="../tags/tag11.xml"/><Relationship Id="rId4" Type="http://schemas.openxmlformats.org/officeDocument/2006/relationships/image" Target="../media/image1.png"/><Relationship Id="rId3" Type="http://schemas.openxmlformats.org/officeDocument/2006/relationships/tags" Target="../tags/tag10.xm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9765" b="7114"/>
          <a:stretch>
            <a:fillRect/>
          </a:stretch>
        </p:blipFill>
        <p:spPr>
          <a:xfrm>
            <a:off x="16329" y="8878"/>
            <a:ext cx="12192000" cy="68573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52875" y="3018790"/>
            <a:ext cx="7854950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软件工程</a:t>
            </a:r>
            <a:r>
              <a:rPr 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大作业</a:t>
            </a:r>
            <a:endParaRPr 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TextBox 23"/>
          <p:cNvSpPr txBox="1"/>
          <p:nvPr/>
        </p:nvSpPr>
        <p:spPr>
          <a:xfrm>
            <a:off x="7254875" y="5212715"/>
            <a:ext cx="4196080" cy="650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75000"/>
              <a:defRPr/>
            </a:pPr>
            <a:r>
              <a:rPr lang="zh-CN" altLang="en-US" sz="1350" b="1" dirty="0">
                <a:solidFill>
                  <a:schemeClr val="bg1"/>
                </a:solidFill>
                <a:latin typeface="Verdana" panose="020B0604030504040204"/>
                <a:ea typeface="微软雅黑" panose="020B0503020204020204" pitchFamily="34" charset="-122"/>
              </a:rPr>
              <a:t>  </a:t>
            </a:r>
            <a:endParaRPr lang="en-US" altLang="zh-CN" sz="1350" b="1" dirty="0">
              <a:solidFill>
                <a:schemeClr val="bg1"/>
              </a:solidFill>
              <a:latin typeface="Verdana" panose="020B0604030504040204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  <a:spcBef>
                <a:spcPts val="300"/>
              </a:spcBef>
              <a:buClr>
                <a:srgbClr val="0070C0"/>
              </a:buClr>
              <a:buSzPct val="75000"/>
              <a:defRPr/>
            </a:pP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燕尾形 2"/>
          <p:cNvSpPr/>
          <p:nvPr/>
        </p:nvSpPr>
        <p:spPr>
          <a:xfrm>
            <a:off x="11551285" y="5283200"/>
            <a:ext cx="415290" cy="500380"/>
          </a:xfrm>
          <a:prstGeom prst="chevron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52585" y="2231643"/>
            <a:ext cx="4180869" cy="1098660"/>
            <a:chOff x="8482002" y="88145"/>
            <a:chExt cx="3882522" cy="1020260"/>
          </a:xfrm>
        </p:grpSpPr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8521619" y="710476"/>
              <a:ext cx="530572" cy="397929"/>
            </a:xfrm>
            <a:prstGeom prst="rect">
              <a:avLst/>
            </a:prstGeom>
          </p:spPr>
        </p:pic>
        <p:pic>
          <p:nvPicPr>
            <p:cNvPr id="12" name="Picture 3" descr="校标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 descr="校名 标准色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文本框 16"/>
            <p:cNvSpPr txBox="1"/>
            <p:nvPr>
              <p:custDataLst>
                <p:tags r:id="rId9"/>
              </p:custDataLst>
            </p:nvPr>
          </p:nvSpPr>
          <p:spPr>
            <a:xfrm>
              <a:off x="8954295" y="760647"/>
              <a:ext cx="3410229" cy="284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005D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自然语言处理与大数据挖掘实验室</a:t>
              </a:r>
              <a:endParaRPr lang="zh-CN" altLang="en-US" sz="14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11934" y="359777"/>
            <a:ext cx="10515600" cy="580880"/>
          </a:xfrm>
        </p:spPr>
        <p:txBody>
          <a:bodyPr/>
          <a:lstStyle/>
          <a:p>
            <a:r>
              <a:rPr kumimoji="1" lang="zh-CN" altLang="en-US" dirty="0"/>
              <a:t>总体目标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37590" y="1176655"/>
            <a:ext cx="9989820" cy="131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/>
            <a:r>
              <a:rPr kumimoji="1" lang="zh-CN" altLang="en-US" sz="24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利用大模型或智能体框架，构造一个医保</a:t>
            </a:r>
            <a:r>
              <a:rPr kumimoji="1" lang="en-US" altLang="zh-CN" sz="24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sz="24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入组智能体。并自动构造相应的需求分析、架构设计和测试文档，将文档自动提交到虚拟文档系统。</a:t>
            </a: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（以下四个模块可以设计成智能体）</a:t>
            </a:r>
            <a:endParaRPr kumimoji="1" lang="zh-CN" altLang="en-US" sz="24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/>
            <a:endParaRPr kumimoji="1" lang="zh-CN" altLang="en-US" sz="28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/>
            <a:endParaRPr kumimoji="1" lang="zh-CN" altLang="en-US" sz="28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/>
            <a:endParaRPr kumimoji="1" lang="zh-CN" altLang="en-US" sz="28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/>
            <a:endParaRPr kumimoji="1" lang="zh-CN" altLang="en-US" sz="28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/>
            <a:endParaRPr kumimoji="1" lang="zh-CN" altLang="en-US" sz="28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875790" y="2924810"/>
            <a:ext cx="3461385" cy="817880"/>
            <a:chOff x="1410" y="4521"/>
            <a:chExt cx="5451" cy="1269"/>
          </a:xfrm>
          <a:solidFill>
            <a:srgbClr val="005D97"/>
          </a:solidFill>
        </p:grpSpPr>
        <p:sp>
          <p:nvSpPr>
            <p:cNvPr id="22" name="Freeform 22"/>
            <p:cNvSpPr/>
            <p:nvPr/>
          </p:nvSpPr>
          <p:spPr>
            <a:xfrm>
              <a:off x="1410" y="4521"/>
              <a:ext cx="5451" cy="1269"/>
            </a:xfrm>
            <a:custGeom>
              <a:avLst/>
              <a:gdLst/>
              <a:ahLst/>
              <a:cxnLst/>
              <a:rect l="l" t="t" r="r" b="b"/>
              <a:pathLst>
                <a:path w="1157337" h="244681">
                  <a:moveTo>
                    <a:pt x="0" y="0"/>
                  </a:moveTo>
                  <a:lnTo>
                    <a:pt x="1157337" y="0"/>
                  </a:lnTo>
                  <a:lnTo>
                    <a:pt x="1157337" y="244681"/>
                  </a:lnTo>
                  <a:lnTo>
                    <a:pt x="0" y="244681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24"/>
            <p:cNvSpPr txBox="1"/>
            <p:nvPr/>
          </p:nvSpPr>
          <p:spPr>
            <a:xfrm>
              <a:off x="1586" y="4548"/>
              <a:ext cx="5099" cy="12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4370"/>
                </a:lnSpc>
              </a:pPr>
              <a:r>
                <a:rPr lang="en-US" altLang="zh-CN" sz="2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3 Bold" panose="020B0800000000000000" charset="-122"/>
                  <a:sym typeface="思源黑体 3 Bold" panose="020B0800000000000000" charset="-122"/>
                </a:rPr>
                <a:t>DRG</a:t>
              </a:r>
              <a:r>
                <a:rPr lang="zh-CN" altLang="en-US" sz="2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3 Bold" panose="020B0800000000000000" charset="-122"/>
                  <a:sym typeface="思源黑体 3 Bold" panose="020B0800000000000000" charset="-122"/>
                </a:rPr>
                <a:t>入组</a:t>
              </a: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  <a:p>
              <a:pPr algn="ctr">
                <a:lnSpc>
                  <a:spcPts val="4370"/>
                </a:lnSpc>
              </a:pP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</p:txBody>
        </p:sp>
      </p:grpSp>
      <p:sp>
        <p:nvSpPr>
          <p:cNvPr id="20" name="TextBox 24"/>
          <p:cNvSpPr txBox="1"/>
          <p:nvPr/>
        </p:nvSpPr>
        <p:spPr>
          <a:xfrm>
            <a:off x="1957070" y="4445000"/>
            <a:ext cx="3237865" cy="5670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370"/>
              </a:lnSpc>
            </a:pP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rPr>
              <a:t>测试用例生成智能体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 panose="020B0800000000000000" charset="-122"/>
              <a:sym typeface="思源黑体 3 Bold" panose="020B0800000000000000" charset="-122"/>
            </a:endParaRPr>
          </a:p>
          <a:p>
            <a:pPr algn="ctr">
              <a:lnSpc>
                <a:spcPts val="4370"/>
              </a:lnSpc>
            </a:pP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3 Bold" panose="020B0800000000000000" charset="-122"/>
              <a:sym typeface="思源黑体 3 Bold" panose="020B0800000000000000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111875" y="2923540"/>
            <a:ext cx="3461385" cy="818829"/>
            <a:chOff x="1410" y="4521"/>
            <a:chExt cx="5451" cy="876"/>
          </a:xfrm>
          <a:solidFill>
            <a:srgbClr val="005D97"/>
          </a:solidFill>
        </p:grpSpPr>
        <p:sp>
          <p:nvSpPr>
            <p:cNvPr id="41" name="Freeform 22"/>
            <p:cNvSpPr/>
            <p:nvPr/>
          </p:nvSpPr>
          <p:spPr>
            <a:xfrm>
              <a:off x="1410" y="4521"/>
              <a:ext cx="5451" cy="876"/>
            </a:xfrm>
            <a:custGeom>
              <a:avLst/>
              <a:gdLst/>
              <a:ahLst/>
              <a:cxnLst/>
              <a:rect l="l" t="t" r="r" b="b"/>
              <a:pathLst>
                <a:path w="1157337" h="244681">
                  <a:moveTo>
                    <a:pt x="0" y="0"/>
                  </a:moveTo>
                  <a:lnTo>
                    <a:pt x="1157337" y="0"/>
                  </a:lnTo>
                  <a:lnTo>
                    <a:pt x="1157337" y="244681"/>
                  </a:lnTo>
                  <a:lnTo>
                    <a:pt x="0" y="244681"/>
                  </a:lnTo>
                  <a:close/>
                </a:path>
              </a:pathLst>
            </a:custGeom>
            <a:grpFill/>
          </p:spPr>
        </p:sp>
        <p:sp>
          <p:nvSpPr>
            <p:cNvPr id="42" name="TextBox 24"/>
            <p:cNvSpPr txBox="1"/>
            <p:nvPr/>
          </p:nvSpPr>
          <p:spPr>
            <a:xfrm>
              <a:off x="1586" y="4548"/>
              <a:ext cx="5099" cy="8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4370"/>
                </a:lnSpc>
              </a:pPr>
              <a:r>
                <a:rPr lang="zh-CN" altLang="en-US" sz="2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3 Bold" panose="020B0800000000000000" charset="-122"/>
                  <a:sym typeface="思源黑体 3 Bold" panose="020B0800000000000000" charset="-122"/>
                </a:rPr>
                <a:t>文档自动生成</a:t>
              </a: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  <a:p>
              <a:pPr algn="ctr">
                <a:lnSpc>
                  <a:spcPts val="4370"/>
                </a:lnSpc>
              </a:pP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845310" y="4591050"/>
            <a:ext cx="3461385" cy="752475"/>
            <a:chOff x="1410" y="4521"/>
            <a:chExt cx="5451" cy="1269"/>
          </a:xfrm>
          <a:solidFill>
            <a:srgbClr val="005D97"/>
          </a:solidFill>
        </p:grpSpPr>
        <p:sp>
          <p:nvSpPr>
            <p:cNvPr id="44" name="Freeform 22"/>
            <p:cNvSpPr/>
            <p:nvPr/>
          </p:nvSpPr>
          <p:spPr>
            <a:xfrm>
              <a:off x="1410" y="4521"/>
              <a:ext cx="5451" cy="1269"/>
            </a:xfrm>
            <a:custGeom>
              <a:avLst/>
              <a:gdLst/>
              <a:ahLst/>
              <a:cxnLst/>
              <a:rect l="l" t="t" r="r" b="b"/>
              <a:pathLst>
                <a:path w="1157337" h="244681">
                  <a:moveTo>
                    <a:pt x="0" y="0"/>
                  </a:moveTo>
                  <a:lnTo>
                    <a:pt x="1157337" y="0"/>
                  </a:lnTo>
                  <a:lnTo>
                    <a:pt x="1157337" y="244681"/>
                  </a:lnTo>
                  <a:lnTo>
                    <a:pt x="0" y="244681"/>
                  </a:lnTo>
                  <a:close/>
                </a:path>
              </a:pathLst>
            </a:custGeom>
            <a:grpFill/>
          </p:spPr>
        </p:sp>
        <p:sp>
          <p:nvSpPr>
            <p:cNvPr id="45" name="TextBox 24"/>
            <p:cNvSpPr txBox="1"/>
            <p:nvPr/>
          </p:nvSpPr>
          <p:spPr>
            <a:xfrm>
              <a:off x="1586" y="4548"/>
              <a:ext cx="5099" cy="1216"/>
            </a:xfrm>
            <a:prstGeom prst="rect">
              <a:avLst/>
            </a:prstGeom>
            <a:grpFill/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4370"/>
                </a:lnSpc>
              </a:pPr>
              <a:r>
                <a:rPr lang="zh-CN" altLang="en-US" sz="2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3 Bold" panose="020B0800000000000000" charset="-122"/>
                  <a:sym typeface="思源黑体 3 Bold" panose="020B0800000000000000" charset="-122"/>
                </a:rPr>
                <a:t>测试用例生成</a:t>
              </a: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  <a:p>
              <a:pPr algn="ctr">
                <a:lnSpc>
                  <a:spcPts val="4370"/>
                </a:lnSpc>
              </a:pPr>
              <a:endPara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111875" y="4591050"/>
            <a:ext cx="3461385" cy="766445"/>
            <a:chOff x="1410" y="4521"/>
            <a:chExt cx="5451" cy="1269"/>
          </a:xfrm>
          <a:solidFill>
            <a:srgbClr val="005D97"/>
          </a:solidFill>
        </p:grpSpPr>
        <p:sp>
          <p:nvSpPr>
            <p:cNvPr id="47" name="Freeform 22"/>
            <p:cNvSpPr/>
            <p:nvPr/>
          </p:nvSpPr>
          <p:spPr>
            <a:xfrm>
              <a:off x="1410" y="4521"/>
              <a:ext cx="5451" cy="1269"/>
            </a:xfrm>
            <a:custGeom>
              <a:avLst/>
              <a:gdLst/>
              <a:ahLst/>
              <a:cxnLst/>
              <a:rect l="l" t="t" r="r" b="b"/>
              <a:pathLst>
                <a:path w="1157337" h="244681">
                  <a:moveTo>
                    <a:pt x="0" y="0"/>
                  </a:moveTo>
                  <a:lnTo>
                    <a:pt x="1157337" y="0"/>
                  </a:lnTo>
                  <a:lnTo>
                    <a:pt x="1157337" y="244681"/>
                  </a:lnTo>
                  <a:lnTo>
                    <a:pt x="0" y="244681"/>
                  </a:lnTo>
                  <a:close/>
                </a:path>
              </a:pathLst>
            </a:custGeom>
            <a:grpFill/>
          </p:spPr>
        </p:sp>
        <p:sp>
          <p:nvSpPr>
            <p:cNvPr id="48" name="TextBox 24"/>
            <p:cNvSpPr txBox="1"/>
            <p:nvPr/>
          </p:nvSpPr>
          <p:spPr>
            <a:xfrm>
              <a:off x="1586" y="4521"/>
              <a:ext cx="5099" cy="12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4370"/>
                </a:lnSpc>
              </a:pPr>
              <a:r>
                <a:rPr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3 Bold" panose="020B0800000000000000" charset="-122"/>
                  <a:sym typeface="思源黑体 3 Bold" panose="020B0800000000000000" charset="-122"/>
                </a:rPr>
                <a:t>虚拟文档系统与文档提交</a:t>
              </a:r>
              <a:endPara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3 Bold" panose="020B0800000000000000" charset="-122"/>
                <a:sym typeface="思源黑体 3 Bold" panose="020B0800000000000000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24"/>
          <p:cNvGrpSpPr/>
          <p:nvPr/>
        </p:nvGrpSpPr>
        <p:grpSpPr>
          <a:xfrm rot="0">
            <a:off x="6295390" y="1090930"/>
            <a:ext cx="5536565" cy="5220335"/>
            <a:chOff x="0" y="0"/>
            <a:chExt cx="1646026" cy="540705"/>
          </a:xfrm>
        </p:grpSpPr>
        <p:sp>
          <p:nvSpPr>
            <p:cNvPr id="108" name="TextBox 26"/>
            <p:cNvSpPr txBox="1"/>
            <p:nvPr/>
          </p:nvSpPr>
          <p:spPr>
            <a:xfrm>
              <a:off x="0" y="-28575"/>
              <a:ext cx="1646026" cy="569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5"/>
            <p:cNvSpPr/>
            <p:nvPr/>
          </p:nvSpPr>
          <p:spPr>
            <a:xfrm>
              <a:off x="0" y="0"/>
              <a:ext cx="1646026" cy="540705"/>
            </a:xfrm>
            <a:custGeom>
              <a:avLst/>
              <a:gdLst/>
              <a:ahLst/>
              <a:cxnLst/>
              <a:rect l="l" t="t" r="r" b="b"/>
              <a:pathLst>
                <a:path w="1646026" h="540705">
                  <a:moveTo>
                    <a:pt x="0" y="0"/>
                  </a:moveTo>
                  <a:lnTo>
                    <a:pt x="1646026" y="0"/>
                  </a:lnTo>
                  <a:lnTo>
                    <a:pt x="1646026" y="540705"/>
                  </a:lnTo>
                  <a:lnTo>
                    <a:pt x="0" y="540705"/>
                  </a:lnTo>
                  <a:close/>
                </a:path>
              </a:pathLst>
            </a:custGeom>
            <a:solidFill>
              <a:srgbClr val="263D6D">
                <a:alpha val="13725"/>
              </a:srgbClr>
            </a:solidFill>
            <a:ln cap="sq">
              <a:noFill/>
              <a:prstDash val="solid"/>
              <a:miter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" name="Group 24"/>
          <p:cNvGrpSpPr/>
          <p:nvPr/>
        </p:nvGrpSpPr>
        <p:grpSpPr>
          <a:xfrm rot="0">
            <a:off x="467360" y="1090930"/>
            <a:ext cx="5536565" cy="5219700"/>
            <a:chOff x="0" y="0"/>
            <a:chExt cx="1646026" cy="540705"/>
          </a:xfrm>
        </p:grpSpPr>
        <p:sp>
          <p:nvSpPr>
            <p:cNvPr id="104" name="Freeform 25"/>
            <p:cNvSpPr/>
            <p:nvPr/>
          </p:nvSpPr>
          <p:spPr>
            <a:xfrm>
              <a:off x="0" y="0"/>
              <a:ext cx="1646026" cy="540705"/>
            </a:xfrm>
            <a:custGeom>
              <a:avLst/>
              <a:gdLst/>
              <a:ahLst/>
              <a:cxnLst/>
              <a:rect l="l" t="t" r="r" b="b"/>
              <a:pathLst>
                <a:path w="1646026" h="540705">
                  <a:moveTo>
                    <a:pt x="0" y="0"/>
                  </a:moveTo>
                  <a:lnTo>
                    <a:pt x="1646026" y="0"/>
                  </a:lnTo>
                  <a:lnTo>
                    <a:pt x="1646026" y="540705"/>
                  </a:lnTo>
                  <a:lnTo>
                    <a:pt x="0" y="540705"/>
                  </a:lnTo>
                  <a:close/>
                </a:path>
              </a:pathLst>
            </a:custGeom>
            <a:solidFill>
              <a:srgbClr val="263D6D">
                <a:alpha val="1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5" name="TextBox 26"/>
            <p:cNvSpPr txBox="1"/>
            <p:nvPr/>
          </p:nvSpPr>
          <p:spPr>
            <a:xfrm>
              <a:off x="0" y="-28575"/>
              <a:ext cx="1646026" cy="569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具体需求</a:t>
            </a:r>
            <a:endParaRPr kumimoji="1" lang="zh-CN" altLang="en-US" dirty="0"/>
          </a:p>
        </p:txBody>
      </p:sp>
      <p:sp>
        <p:nvSpPr>
          <p:cNvPr id="99" name="文本框 98"/>
          <p:cNvSpPr txBox="1"/>
          <p:nvPr/>
        </p:nvSpPr>
        <p:spPr>
          <a:xfrm>
            <a:off x="588645" y="1119505"/>
            <a:ext cx="5415280" cy="5191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DRG</a:t>
            </a: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入组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功能：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根据电子病历和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入组规则自动匹配输出</a:t>
            </a:r>
            <a:r>
              <a:rPr kumimoji="1" lang="en-US" altLang="zh-CN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分组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结果。</a:t>
            </a:r>
            <a:endParaRPr kumimoji="1" lang="zh-CN" altLang="en-US" sz="20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输入：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电子病历文本（含主要诊断、手术操作、次要诊断等）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分组规则（含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MDC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分类、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ADRG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分组、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MCC/CC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列表）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输出：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组号、组名（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如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"GD15" 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"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阑尾切除术，无合并症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"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入组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原因说明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487160" y="1119505"/>
            <a:ext cx="5097145" cy="452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文档自动生成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功能：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基于系统需求、代码和设计信息自动生成符合规范的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文档</a:t>
            </a:r>
            <a:endParaRPr kumimoji="1" lang="zh-CN" altLang="en-US" sz="20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输入：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系统需求、系统代码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输出：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需求分析文档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- 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含系统功能需求、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用例等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架构设计文档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- 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含整体结构、模块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关系等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测试文档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含测试策略、测试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方案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5"/>
          <p:cNvSpPr/>
          <p:nvPr/>
        </p:nvSpPr>
        <p:spPr>
          <a:xfrm>
            <a:off x="6295390" y="1274445"/>
            <a:ext cx="5536565" cy="4550410"/>
          </a:xfrm>
          <a:custGeom>
            <a:avLst/>
            <a:gdLst/>
            <a:ahLst/>
            <a:cxnLst/>
            <a:rect l="l" t="t" r="r" b="b"/>
            <a:pathLst>
              <a:path w="1646026" h="540705">
                <a:moveTo>
                  <a:pt x="0" y="0"/>
                </a:moveTo>
                <a:lnTo>
                  <a:pt x="1646026" y="0"/>
                </a:lnTo>
                <a:lnTo>
                  <a:pt x="1646026" y="540705"/>
                </a:lnTo>
                <a:lnTo>
                  <a:pt x="0" y="540705"/>
                </a:lnTo>
                <a:close/>
              </a:path>
            </a:pathLst>
          </a:custGeom>
          <a:solidFill>
            <a:srgbClr val="263D6D">
              <a:alpha val="13725"/>
            </a:srgbClr>
          </a:solid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具体需求</a:t>
            </a:r>
            <a:endParaRPr kumimoji="1" lang="zh-CN" altLang="en-US" dirty="0"/>
          </a:p>
        </p:txBody>
      </p:sp>
      <p:grpSp>
        <p:nvGrpSpPr>
          <p:cNvPr id="103" name="Group 24"/>
          <p:cNvGrpSpPr/>
          <p:nvPr/>
        </p:nvGrpSpPr>
        <p:grpSpPr>
          <a:xfrm rot="0">
            <a:off x="467360" y="1274445"/>
            <a:ext cx="5536565" cy="4550410"/>
            <a:chOff x="0" y="0"/>
            <a:chExt cx="1646026" cy="540705"/>
          </a:xfrm>
        </p:grpSpPr>
        <p:sp>
          <p:nvSpPr>
            <p:cNvPr id="104" name="Freeform 25"/>
            <p:cNvSpPr/>
            <p:nvPr/>
          </p:nvSpPr>
          <p:spPr>
            <a:xfrm>
              <a:off x="0" y="0"/>
              <a:ext cx="1646026" cy="540705"/>
            </a:xfrm>
            <a:custGeom>
              <a:avLst/>
              <a:gdLst/>
              <a:ahLst/>
              <a:cxnLst/>
              <a:rect l="l" t="t" r="r" b="b"/>
              <a:pathLst>
                <a:path w="1646026" h="540705">
                  <a:moveTo>
                    <a:pt x="0" y="0"/>
                  </a:moveTo>
                  <a:lnTo>
                    <a:pt x="1646026" y="0"/>
                  </a:lnTo>
                  <a:lnTo>
                    <a:pt x="1646026" y="540705"/>
                  </a:lnTo>
                  <a:lnTo>
                    <a:pt x="0" y="540705"/>
                  </a:lnTo>
                  <a:close/>
                </a:path>
              </a:pathLst>
            </a:custGeom>
            <a:solidFill>
              <a:srgbClr val="263D6D">
                <a:alpha val="1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5" name="TextBox 26"/>
            <p:cNvSpPr txBox="1"/>
            <p:nvPr/>
          </p:nvSpPr>
          <p:spPr>
            <a:xfrm>
              <a:off x="0" y="-28575"/>
              <a:ext cx="1646026" cy="569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588645" y="1303020"/>
            <a:ext cx="5415280" cy="467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测试用例生成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功能：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根据</a:t>
            </a:r>
            <a:r>
              <a:rPr kumimoji="1" lang="en-US" altLang="zh-CN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sz="20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规则自动构建测试场景并生成测试用例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输入：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分组规则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病历样本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输出：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正常场景测试用例（不同诊断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+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手术组合）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边界测试用例（合并症有无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等）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异常测试用例（编码错误、信息缺失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等）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487160" y="1303020"/>
            <a:ext cx="4569460" cy="452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kumimoji="1" lang="zh-CN" altLang="en-US" sz="20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虚拟文档系统与提交</a:t>
            </a:r>
            <a:endParaRPr kumimoji="1" lang="zh-CN" altLang="en-US" sz="20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kumimoji="1" lang="zh-CN" altLang="en-US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功能：</a:t>
            </a: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构建一个虚拟文档系统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自动接收其他智能体生成的文档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文件存储与提交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DRG</a:t>
            </a:r>
            <a:r>
              <a:rPr kumimoji="1" lang="zh-CN" altLang="en-US" dirty="0"/>
              <a:t>入组</a:t>
            </a:r>
            <a:endParaRPr kumimoji="1" lang="zh-CN" altLang="en-US" dirty="0"/>
          </a:p>
        </p:txBody>
      </p:sp>
      <p:sp>
        <p:nvSpPr>
          <p:cNvPr id="99" name="文本框 98"/>
          <p:cNvSpPr txBox="1"/>
          <p:nvPr/>
        </p:nvSpPr>
        <p:spPr>
          <a:xfrm>
            <a:off x="418465" y="1250315"/>
            <a:ext cx="5422900" cy="433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DRG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定义：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按疾病诊断相关分组（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Diagnosis Related Groups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）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具体含义：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将病人按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“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诊断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+ 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治疗方式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+ 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个体特征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”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分到不同组，每组对应一个打包付费标准</a:t>
            </a:r>
            <a:endParaRPr kumimoji="1" lang="zh-CN" altLang="en-US" sz="16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入组规则文件：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《按病组（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DRG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）付费分组方案（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2.0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版）》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DRG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分组结构（三层）</a:t>
            </a:r>
            <a:endParaRPr kumimoji="1" lang="zh-CN" altLang="en-US" sz="16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MDC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（主要诊断大类）：根据主要诊断判断</a:t>
            </a:r>
            <a:endParaRPr kumimoji="1" lang="zh-CN" altLang="en-US" sz="16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ADRG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（核心分组）：根据主要手术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+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主要诊断判断</a:t>
            </a:r>
            <a:endParaRPr kumimoji="1" lang="zh-CN" altLang="en-US" sz="1600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DRG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（细分组）：考虑合并症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/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严重合并症（</a:t>
            </a:r>
            <a:r>
              <a:rPr kumimoji="1" lang="en-US" altLang="zh-CN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CC/MCC</a:t>
            </a:r>
            <a:r>
              <a:rPr kumimoji="1" lang="zh-CN" altLang="en-US" sz="1600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）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3090" y="548640"/>
            <a:ext cx="6275070" cy="5602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DRG</a:t>
            </a:r>
            <a:r>
              <a:rPr kumimoji="1" lang="zh-CN" altLang="en-US" dirty="0"/>
              <a:t>入组实</a:t>
            </a:r>
            <a:r>
              <a:rPr kumimoji="1" lang="zh-CN" altLang="en-US" dirty="0"/>
              <a:t>例</a:t>
            </a:r>
            <a:endParaRPr kumimoji="1" lang="zh-CN" altLang="en-US" dirty="0"/>
          </a:p>
        </p:txBody>
      </p:sp>
      <p:sp>
        <p:nvSpPr>
          <p:cNvPr id="9" name="Freeform 25"/>
          <p:cNvSpPr/>
          <p:nvPr/>
        </p:nvSpPr>
        <p:spPr>
          <a:xfrm>
            <a:off x="690245" y="1240155"/>
            <a:ext cx="3430270" cy="2419350"/>
          </a:xfrm>
          <a:custGeom>
            <a:avLst/>
            <a:gdLst/>
            <a:ahLst/>
            <a:cxnLst/>
            <a:rect l="l" t="t" r="r" b="b"/>
            <a:pathLst>
              <a:path w="1646026" h="540705">
                <a:moveTo>
                  <a:pt x="0" y="0"/>
                </a:moveTo>
                <a:lnTo>
                  <a:pt x="1646026" y="0"/>
                </a:lnTo>
                <a:lnTo>
                  <a:pt x="1646026" y="540705"/>
                </a:lnTo>
                <a:lnTo>
                  <a:pt x="0" y="540705"/>
                </a:lnTo>
                <a:close/>
              </a:path>
            </a:pathLst>
          </a:custGeom>
          <a:solidFill>
            <a:srgbClr val="263D6D">
              <a:alpha val="13725"/>
            </a:srgbClr>
          </a:solidFill>
          <a:ln cap="sq">
            <a:noFill/>
            <a:prstDash val="solid"/>
            <a:miter/>
          </a:ln>
        </p:spPr>
        <p:txBody>
          <a:bodyPr/>
          <a:p>
            <a:r>
              <a:rPr lang="zh-CN" altLang="en-US" b="1"/>
              <a:t>患者病历：</a:t>
            </a:r>
            <a:endParaRPr lang="zh-CN" altLang="en-US" b="1"/>
          </a:p>
          <a:p>
            <a:r>
              <a:rPr lang="zh-CN" altLang="en-US"/>
              <a:t>主要诊断：</a:t>
            </a:r>
            <a:endParaRPr lang="zh-CN" altLang="en-US"/>
          </a:p>
          <a:p>
            <a:r>
              <a:rPr lang="en-US" altLang="zh-CN"/>
              <a:t>A01.002+G01*</a:t>
            </a:r>
            <a:r>
              <a:rPr lang="zh-CN" altLang="en-US"/>
              <a:t>（伤寒性脑膜炎）</a:t>
            </a:r>
            <a:endParaRPr lang="zh-CN" altLang="en-US"/>
          </a:p>
          <a:p>
            <a:r>
              <a:rPr lang="zh-CN" altLang="en-US"/>
              <a:t>次要诊断：</a:t>
            </a:r>
            <a:endParaRPr lang="zh-CN" altLang="en-US"/>
          </a:p>
          <a:p>
            <a:r>
              <a:rPr lang="en-US" altLang="zh-CN"/>
              <a:t>J96.0</a:t>
            </a:r>
            <a:r>
              <a:rPr lang="zh-CN" altLang="en-US"/>
              <a:t>（急性呼吸衰竭）</a:t>
            </a:r>
            <a:endParaRPr lang="zh-CN" altLang="en-US"/>
          </a:p>
          <a:p>
            <a:r>
              <a:rPr lang="zh-CN" altLang="en-US"/>
              <a:t>主要手术：</a:t>
            </a:r>
            <a:endParaRPr lang="zh-CN" altLang="en-US"/>
          </a:p>
          <a:p>
            <a:r>
              <a:rPr lang="en-US" altLang="zh-CN"/>
              <a:t>38.1000x002</a:t>
            </a:r>
            <a:r>
              <a:rPr lang="zh-CN" altLang="en-US"/>
              <a:t>（动脉内膜剥脱术）</a:t>
            </a:r>
            <a:endParaRPr lang="zh-CN" altLang="en-US"/>
          </a:p>
          <a:p>
            <a:r>
              <a:rPr lang="en-US" altLang="zh-CN"/>
              <a:t>.....</a:t>
            </a:r>
            <a:endParaRPr lang="en-US" altLang="zh-CN"/>
          </a:p>
        </p:txBody>
      </p:sp>
      <p:sp>
        <p:nvSpPr>
          <p:cNvPr id="99" name="文本框 98"/>
          <p:cNvSpPr txBox="1"/>
          <p:nvPr/>
        </p:nvSpPr>
        <p:spPr>
          <a:xfrm>
            <a:off x="5193030" y="1111885"/>
            <a:ext cx="5972810" cy="4335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主诊断为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A01.002+G01*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（伤寒性脑膜炎）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进入神经系统疾病及功能障碍大类（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MDCB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）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主手术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38.1000x002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（动脉内膜剥脱术）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命中神经系统复合手术组（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ADRG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：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BB1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）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次要诊断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J96.0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（急性呼吸衰竭），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该诊断属于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MCC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（严重合并症或并发症）列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表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经排除表校验，该并发症不被主诊断所排除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-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该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ADRG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支持并发症分层，因此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MCC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判定成立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进入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BB11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神经系统复合手术，伴严重合并症或并发症</a:t>
            </a: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5" name="Freeform 25"/>
          <p:cNvSpPr/>
          <p:nvPr/>
        </p:nvSpPr>
        <p:spPr>
          <a:xfrm>
            <a:off x="1315085" y="4187825"/>
            <a:ext cx="2179955" cy="1438910"/>
          </a:xfrm>
          <a:custGeom>
            <a:avLst/>
            <a:gdLst/>
            <a:ahLst/>
            <a:cxnLst/>
            <a:rect l="l" t="t" r="r" b="b"/>
            <a:pathLst>
              <a:path w="1646026" h="540705">
                <a:moveTo>
                  <a:pt x="0" y="0"/>
                </a:moveTo>
                <a:lnTo>
                  <a:pt x="1646026" y="0"/>
                </a:lnTo>
                <a:lnTo>
                  <a:pt x="1646026" y="540705"/>
                </a:lnTo>
                <a:lnTo>
                  <a:pt x="0" y="540705"/>
                </a:lnTo>
                <a:close/>
              </a:path>
            </a:pathLst>
          </a:custGeom>
          <a:solidFill>
            <a:srgbClr val="263D6D">
              <a:alpha val="13725"/>
            </a:srgbClr>
          </a:solidFill>
          <a:ln cap="sq">
            <a:noFill/>
            <a:prstDash val="solid"/>
            <a:miter/>
          </a:ln>
        </p:spPr>
        <p:txBody>
          <a:bodyPr/>
          <a:p>
            <a:r>
              <a:rPr lang="zh-CN" altLang="en-US" b="1"/>
              <a:t>分组</a:t>
            </a:r>
            <a:r>
              <a:rPr lang="zh-CN" altLang="en-US" b="1"/>
              <a:t>结果：</a:t>
            </a:r>
            <a:endParaRPr lang="zh-CN" altLang="en-US" b="1"/>
          </a:p>
          <a:p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MDC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：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MDCB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ADRG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：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BB1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  <a:p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DRG</a:t>
            </a:r>
            <a:r>
              <a:rPr kumimoji="1" lang="zh-CN" altLang="en-US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：</a:t>
            </a:r>
            <a:r>
              <a:rPr kumimoji="1" lang="en-US" altLang="zh-CN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BB11</a:t>
            </a:r>
            <a:endParaRPr kumimoji="1" lang="en-US" altLang="zh-CN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+mn-ea"/>
            </a:endParaRPr>
          </a:p>
        </p:txBody>
      </p:sp>
      <p:sp>
        <p:nvSpPr>
          <p:cNvPr id="7" name="下箭头 6"/>
          <p:cNvSpPr/>
          <p:nvPr/>
        </p:nvSpPr>
        <p:spPr>
          <a:xfrm rot="16200000">
            <a:off x="4584065" y="1655445"/>
            <a:ext cx="506730" cy="5600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4411345" y="4187825"/>
            <a:ext cx="603885" cy="53911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项目要求与作业交付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18465" y="1250315"/>
            <a:ext cx="10219055" cy="951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kumimoji="1" lang="en-US" altLang="zh-CN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团队自由组织，一个团队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4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到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5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个人。可以有项目经理，作为需求分析师、架构师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(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可执行的架构、分模块、集成</a:t>
            </a:r>
            <a:r>
              <a:rPr kumimoji="1" lang="en-US" altLang="zh-CN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)</a:t>
            </a:r>
            <a:r>
              <a:rPr kumimoji="1" lang="zh-CN" altLang="en-US" sz="1600" b="1" dirty="0" err="1" smtClean="0">
                <a:ln>
                  <a:noFill/>
                </a:ln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、配置管理，程序员，测试人员等构成。</a:t>
            </a:r>
            <a:endParaRPr kumimoji="1" lang="zh-CN" altLang="en-US" sz="1600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indent="457200" algn="l" fontAlgn="auto">
              <a:lnSpc>
                <a:spcPct val="150000"/>
              </a:lnSpc>
              <a:buFont typeface="Wingdings" panose="05000000000000000000" charset="0"/>
              <a:buNone/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endParaRPr kumimoji="1" lang="zh-CN" altLang="en-US" b="1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algn="l" fontAlgn="auto">
              <a:lnSpc>
                <a:spcPct val="150000"/>
              </a:lnSpc>
            </a:pPr>
            <a:endParaRPr kumimoji="1" lang="zh-CN" altLang="en-US" dirty="0" err="1" smtClean="0">
              <a:ln>
                <a:noFill/>
              </a:ln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1694815" y="2479675"/>
          <a:ext cx="8803005" cy="322453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1384935"/>
                <a:gridCol w="2626360"/>
                <a:gridCol w="4791710"/>
              </a:tblGrid>
              <a:tr h="32004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周次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交付物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关键内容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</a:tr>
              <a:tr h="51498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5/14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项目管理文档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过程描述、项目计划、会议纪要（</a:t>
                      </a:r>
                      <a:r>
                        <a:rPr lang="en-US" altLang="zh-CN" sz="1400"/>
                        <a:t>≥2</a:t>
                      </a:r>
                      <a:r>
                        <a:rPr lang="zh-CN" altLang="en-US" sz="1400"/>
                        <a:t>次）</a:t>
                      </a: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  <a:tr h="51435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6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配置管理文档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目录结构、代码规范</a:t>
                      </a: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  <a:tr h="51498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8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需求分析文档</a:t>
                      </a:r>
                      <a:r>
                        <a:rPr lang="en-US" altLang="zh-CN" sz="1400"/>
                        <a:t>(SRS)</a:t>
                      </a:r>
                      <a:endParaRPr lang="en-US" altLang="zh-CN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需求模型、分析模型、界面原型（</a:t>
                      </a:r>
                      <a:r>
                        <a:rPr lang="en-US" altLang="zh-CN" sz="1400"/>
                        <a:t>Rational UML</a:t>
                      </a:r>
                      <a:r>
                        <a:rPr lang="zh-CN" altLang="en-US" sz="1400"/>
                        <a:t>）</a:t>
                      </a: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  <a:tr h="51435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12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概要设计文档</a:t>
                      </a:r>
                      <a:r>
                        <a:rPr lang="en-US" altLang="zh-CN" sz="1400"/>
                        <a:t>+</a:t>
                      </a:r>
                      <a:r>
                        <a:rPr lang="zh-CN" altLang="en-US" sz="1400"/>
                        <a:t>可执行架构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架构设计，接口设计，数据库设计，类设计</a:t>
                      </a: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  <a:tr h="51498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16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测试报告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  <a:tr h="330835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第</a:t>
                      </a:r>
                      <a:r>
                        <a:rPr lang="en-US" altLang="zh-CN" sz="1400"/>
                        <a:t>17</a:t>
                      </a:r>
                      <a:r>
                        <a:rPr lang="zh-CN" altLang="en-US" sz="1400"/>
                        <a:t>周</a:t>
                      </a:r>
                      <a:endParaRPr lang="zh-CN" altLang="en-US" sz="14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zh-CN" altLang="en-US" sz="1400"/>
                        <a:t>系统演示</a:t>
                      </a:r>
                      <a:r>
                        <a:rPr lang="en-US" altLang="zh-CN" sz="1400"/>
                        <a:t>+</a:t>
                      </a:r>
                      <a:r>
                        <a:rPr lang="zh-CN" altLang="en-US" sz="1400"/>
                        <a:t>完整文档</a:t>
                      </a:r>
                      <a:endParaRPr lang="zh-CN" altLang="en-US" sz="14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endParaRPr lang="zh-CN" altLang="en-US" sz="14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05025" y="826771"/>
            <a:ext cx="7981950" cy="5229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2748" y="3119969"/>
            <a:ext cx="1743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 YOU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D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75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774700" y="781050"/>
            <a:ext cx="10642600" cy="529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542415" y="781050"/>
            <a:ext cx="1639570" cy="3563620"/>
          </a:xfrm>
          <a:prstGeom prst="rect">
            <a:avLst/>
          </a:prstGeom>
          <a:solidFill>
            <a:srgbClr val="005D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542415" y="2644775"/>
            <a:ext cx="17291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 YOU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72760" y="2863215"/>
            <a:ext cx="522859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rgbClr val="DB6252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rgbClr val="DB6252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华东理工大学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自然语言处理与大数据挖掘实验室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B6252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DB6252">
                  <a:lumMod val="50000"/>
                </a:srgb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PLACING_PICTURE_USER_VIEWPORT" val="{&quot;height&quot;:10832.727559055118,&quot;width&quot;:19200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ABLE_ENDDRAG_ORIGIN_RECT" val="693*254"/>
  <p:tag name="TABLE_ENDDRAG_RECT" val="67*185*693*254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commondata" val="eyJoZGlkIjoiZGJiNTQ4MTU0ZjI4YjE3MTM0ZmE1YTRmNzM1MmRlNm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ci-2">
      <a:dk1>
        <a:srgbClr val="000000"/>
      </a:dk1>
      <a:lt1>
        <a:srgbClr val="FFFFFF"/>
      </a:lt1>
      <a:dk2>
        <a:srgbClr val="DF9FB2"/>
      </a:dk2>
      <a:lt2>
        <a:srgbClr val="DB6252"/>
      </a:lt2>
      <a:accent1>
        <a:srgbClr val="C89AC6"/>
      </a:accent1>
      <a:accent2>
        <a:srgbClr val="95CAC0"/>
      </a:accent2>
      <a:accent3>
        <a:srgbClr val="89AFC8"/>
      </a:accent3>
      <a:accent4>
        <a:srgbClr val="CD849C"/>
      </a:accent4>
      <a:accent5>
        <a:srgbClr val="B1C597"/>
      </a:accent5>
      <a:accent6>
        <a:srgbClr val="F6DB8F"/>
      </a:accent6>
      <a:hlink>
        <a:srgbClr val="0563C1"/>
      </a:hlink>
      <a:folHlink>
        <a:srgbClr val="954F72"/>
      </a:folHlink>
    </a:clrScheme>
    <a:fontScheme name="Candara">
      <a:maj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sz="3600" b="1" dirty="0" err="1" smtClean="0">
            <a:ln>
              <a:solidFill>
                <a:schemeClr val="bg1">
                  <a:lumMod val="50000"/>
                </a:schemeClr>
              </a:solidFill>
            </a:ln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1353</Words>
  <Application>WPS 演示</Application>
  <PresentationFormat>宽屏</PresentationFormat>
  <Paragraphs>171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Calibri</vt:lpstr>
      <vt:lpstr>Verdana</vt:lpstr>
      <vt:lpstr>华文楷体</vt:lpstr>
      <vt:lpstr>思源黑体 3 Bold</vt:lpstr>
      <vt:lpstr>黑体</vt:lpstr>
      <vt:lpstr>Wingdings</vt:lpstr>
      <vt:lpstr>Candara</vt:lpstr>
      <vt:lpstr>微软雅黑 Light</vt:lpstr>
      <vt:lpstr>等线</vt:lpstr>
      <vt:lpstr>Arial Unicode MS</vt:lpstr>
      <vt:lpstr>等线 Light</vt:lpstr>
      <vt:lpstr>Office 主题​​</vt:lpstr>
      <vt:lpstr>1_Office 主题​​</vt:lpstr>
      <vt:lpstr>PowerPoint 演示文稿</vt:lpstr>
      <vt:lpstr>总体目标</vt:lpstr>
      <vt:lpstr>具体需求</vt:lpstr>
      <vt:lpstr>具体需求</vt:lpstr>
      <vt:lpstr>DRG入组智能体（核心）</vt:lpstr>
      <vt:lpstr>DRG入组实例</vt:lpstr>
      <vt:lpstr>项目要求与作业交付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嘉诚 王</dc:creator>
  <cp:lastModifiedBy>举个栗子</cp:lastModifiedBy>
  <cp:revision>38</cp:revision>
  <dcterms:created xsi:type="dcterms:W3CDTF">2023-10-06T02:55:00Z</dcterms:created>
  <dcterms:modified xsi:type="dcterms:W3CDTF">2026-03-26T04:54:03Z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E8C7F1DD38434CEBB6579203EB6B4FDA_12</vt:lpwstr>
  </property>
  <property fmtid="{D5CDD505-2E9C-101B-9397-08002B2CF9AE}" pid="3" name="KSOProductBuildVer">
    <vt:lpwstr>2052-12.1.0.25225</vt:lpwstr>
  </property>
</Properties>
</file>